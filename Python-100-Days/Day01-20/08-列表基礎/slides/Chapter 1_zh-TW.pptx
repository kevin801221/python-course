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1.svg" ContentType="image/svg+xml"/>
  <Override PartName="/ppt/media/image13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281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89" r:id="rId19"/>
    <p:sldId id="290" r:id="rId20"/>
    <p:sldId id="275" r:id="rId21"/>
    <p:sldId id="286" r:id="rId22"/>
    <p:sldId id="276" r:id="rId23"/>
    <p:sldId id="277" r:id="rId24"/>
    <p:sldId id="278" r:id="rId25"/>
    <p:sldId id="261" r:id="rId26"/>
    <p:sldId id="279" r:id="rId27"/>
    <p:sldId id="280" r:id="rId28"/>
    <p:sldId id="284" r:id="rId29"/>
    <p:sldId id="283" r:id="rId30"/>
    <p:sldId id="285" r:id="rId31"/>
    <p:sldId id="288" r:id="rId3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338FF-50C9-7A4B-85DC-4C835DD681DD}" type="slidenum">
              <a:rPr lang="en-TW" smtClean="0"/>
              <a:t>27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14639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python.org/3/library/constants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68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1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i="1" sz="4800"/>
              <a:t>資料型態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6877BD-D948-4B46-B61E-9DA9BA28C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273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5A2D3-3FCD-B84F-B63E-090702A0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第 1 章筆記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A6CA-05D3-EB49-B356-A1CFC0DC3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在本章中，我們將學習 Python 中的一些基本語法和資料型態。你需要記住一些規則和語法。</a:t>
            </a:r>
          </a:p>
          <a:p>
            <a:pPr marL="0" indent="0">
              <a:buNone/>
            </a:pPr>
            <a:r>
              <a:t>在你開始寫程式之前，請確保你知道 —— Python 區分大小寫。</a:t>
            </a:r>
          </a:p>
          <a:p>
            <a:pPr marL="0" indent="0">
              <a:buNone/>
            </a:pPr>
            <a:r>
              <a:t>Python 使用縮排來表示程式碼區塊。（如果你有其他程式語言的經驗，它們通常使用分號 ; 和大括號 { } 來表示程式碼區塊）</a:t>
            </a:r>
          </a:p>
          <a:p>
            <a:pPr marL="0" indent="0">
              <a:buNone/>
            </a:pPr>
            <a:r>
              <a:t>在縮排時，你可以使用 Tab 或空格。通常，一個 Tab 的長度等於 4 個空格。確保你的縮排是一致的！否則，你可能會看到「IndentationError: unindent does not match any outer indentation level.」</a:t>
            </a:r>
          </a:p>
        </p:txBody>
      </p:sp>
    </p:spTree>
    <p:extLst>
      <p:ext uri="{BB962C8B-B14F-4D97-AF65-F5344CB8AC3E}">
        <p14:creationId xmlns:p14="http://schemas.microsoft.com/office/powerpoint/2010/main" val="94304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CCDD-8026-2E49-A76F-633C1AF5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資料型態</a:t>
            </a:r>
            <a:endParaRPr lang="en-TW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2EEF250-E5A5-E440-BD8C-6FADB99CD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92125"/>
              </p:ext>
            </p:extLst>
          </p:nvPr>
        </p:nvGraphicFramePr>
        <p:xfrm>
          <a:off x="388307" y="1565753"/>
          <a:ext cx="11298477" cy="5023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444">
                  <a:extLst>
                    <a:ext uri="{9D8B030D-6E8A-4147-A177-3AD203B41FA5}">
                      <a16:colId xmlns:a16="http://schemas.microsoft.com/office/drawing/2014/main" val="973897138"/>
                    </a:ext>
                  </a:extLst>
                </a:gridCol>
                <a:gridCol w="1548271">
                  <a:extLst>
                    <a:ext uri="{9D8B030D-6E8A-4147-A177-3AD203B41FA5}">
                      <a16:colId xmlns:a16="http://schemas.microsoft.com/office/drawing/2014/main" val="1827859743"/>
                    </a:ext>
                  </a:extLst>
                </a:gridCol>
                <a:gridCol w="5242143">
                  <a:extLst>
                    <a:ext uri="{9D8B030D-6E8A-4147-A177-3AD203B41FA5}">
                      <a16:colId xmlns:a16="http://schemas.microsoft.com/office/drawing/2014/main" val="3847613997"/>
                    </a:ext>
                  </a:extLst>
                </a:gridCol>
                <a:gridCol w="2824619">
                  <a:extLst>
                    <a:ext uri="{9D8B030D-6E8A-4147-A177-3AD203B41FA5}">
                      <a16:colId xmlns:a16="http://schemas.microsoft.com/office/drawing/2014/main" val="206236113"/>
                    </a:ext>
                  </a:extLst>
                </a:gridCol>
              </a:tblGrid>
              <a:tr h="426582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Name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Type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Copy By 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724126"/>
                  </a:ext>
                </a:extLst>
              </a:tr>
              <a:tr h="426582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Integer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int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/>
                        <a:t>Whole numbers, such as -5, 0, 16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90331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Float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float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Numbers with decimal point, such as 10.25, 0.04, 3.14159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96153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str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Ordered sequence of characters, such “Aloha”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610988"/>
                  </a:ext>
                </a:extLst>
              </a:tr>
              <a:tr h="426582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Boolean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bool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/>
                        <a:t>Logical value indicating True or False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393987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List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list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Ordered sequence of data, such as [12, “Hello”, True]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5859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Dictionaries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dict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dirty="0"/>
                        <a:t>Unordered key-value pairs, such as {“name”: “Wilson”}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182636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Tuples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Ordered immutable sequence of objects, such as (10, “100”, ”Hello”)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06255"/>
                  </a:ext>
                </a:extLst>
              </a:tr>
              <a:tr h="607896">
                <a:tc>
                  <a:txBody>
                    <a:bodyPr/>
                    <a:lstStyle/>
                    <a:p>
                      <a:pPr algn="ctr"/>
                      <a:r>
                        <a:rPr lang="en-TW"/>
                        <a:t>Sets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Unordered collection of unique objects {“a”, “b”}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88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35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AD04-67E8-C845-89C3-42BFAE5B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數值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5840-D6F0-2648-9E19-3807F042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7340" cy="4351338"/>
          </a:xfrm>
        </p:spPr>
        <p:txBody>
          <a:bodyPr/>
          <a:lstStyle/>
          <a:p>
            <a:pPr marL="0" indent="0">
              <a:buNone/>
            </a:pPr>
            <a:r>
              <a:t>數值是 Python 中最常用的資料型態之一。有兩種類型的數值 —— 整數（int）和浮點數（float）。</a:t>
            </a:r>
          </a:p>
          <a:p>
            <a:pPr marL="0" indent="0">
              <a:buNone/>
            </a:pPr>
            <a:r>
              <a:t>基本的數值運算包括加法、減法、乘法、除法、餘數運算子（mod）和指數運算子。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0C468C-75A7-9A48-BA30-B77FFC4C7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5423" y="1414463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6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6F8F-BF15-4147-8933-B8B152BD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中的函式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29A08-81DB-C140-99EF-EA8F77CB6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you are new to programming, we can talk about functions first. What’s a function? A function in Python is like a function in Math. Recall from your math class a function is something like: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TW" dirty="0"/>
                  <a:t>where you have the name of the function, an input, and then you get an output. Also, a function should only return one value (if one input results in two different outputs, then it’s not a function)</a:t>
                </a:r>
              </a:p>
              <a:p>
                <a:pPr marL="0" indent="0">
                  <a:buNone/>
                </a:pPr>
                <a:r>
                  <a:rPr lang="en-TW" dirty="0"/>
                  <a:t>The same concept applies to Python methods as well. In Python methods, we can either give or not give any input; then, we get one output from that method.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29A08-81DB-C140-99EF-EA8F77CB6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75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04FD-5BB6-4E4A-A489-1CA8BDBA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內建的數值方法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85EED-8403-B948-8D30-FEA74DFE4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t>除了算術運算，Python 還有數值的內建方法。一些常用的方法有：</a:t>
            </a:r>
          </a:p>
          <a:p>
            <a:pPr marL="0" indent="0">
              <a:buNone/>
            </a:pPr>
            <a:r>
              <a:t>abs()</a:t>
            </a:r>
          </a:p>
          <a:p>
            <a:pPr marL="0" indent="0">
              <a:buNone/>
            </a:pPr>
            <a:r>
              <a:t>str() *</a:t>
            </a:r>
          </a:p>
          <a:p>
            <a:pPr marL="0" indent="0">
              <a:buNone/>
            </a:pPr>
            <a:r>
              <a:t>pow()</a:t>
            </a:r>
          </a:p>
          <a:p>
            <a:pPr marL="0" indent="0">
              <a:buNone/>
            </a:pPr>
            <a:r>
              <a:t>max()</a:t>
            </a:r>
          </a:p>
          <a:p>
            <a:pPr marL="0" indent="0">
              <a:buNone/>
            </a:pPr>
            <a:r>
              <a:t>min()</a:t>
            </a:r>
          </a:p>
          <a:p>
            <a:pPr marL="0" indent="0">
              <a:buNone/>
            </a:pPr>
            <a:r>
              <a:t>round()</a:t>
            </a:r>
          </a:p>
          <a:p>
            <a:pPr marL="0" indent="0">
              <a:buNone/>
            </a:pPr>
            <a:r>
              <a:t>int() *</a:t>
            </a:r>
          </a:p>
          <a:p>
            <a:pPr marL="0" indent="0">
              <a:buNone/>
            </a:pPr>
            <a:r>
              <a:t>float() *</a:t>
            </a:r>
          </a:p>
          <a:p>
            <a:pPr marL="0" indent="0">
              <a:buNone/>
            </a:pPr>
            <a:r>
              <a:rPr sz="2200"/>
              <a:t>*. str()、int() 和 float() 用於型態轉換。</a:t>
            </a:r>
          </a:p>
        </p:txBody>
      </p:sp>
    </p:spTree>
    <p:extLst>
      <p:ext uri="{BB962C8B-B14F-4D97-AF65-F5344CB8AC3E}">
        <p14:creationId xmlns:p14="http://schemas.microsoft.com/office/powerpoint/2010/main" val="209753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00BD-9DC4-7B47-93F3-77E5B4AF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Math 模組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E3F0-E697-AC42-B5BB-1249FD96F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其他一些方法需要我們使用「Math 模組」。什麼是模組？我們稍後會討論。現在，專注於如何使用常數和方法。</a:t>
            </a:r>
          </a:p>
          <a:p>
            <a:pPr marL="0" indent="0">
              <a:buNone/>
            </a:pPr>
            <a:r>
              <a:t>math 模組中一些常用的常數和方法有：</a:t>
            </a:r>
          </a:p>
          <a:p>
            <a:pPr marL="365760" indent="-182880" algn="l">
              <a:buChar char="•"/>
            </a:pPr>
            <a:r>
              <a:t>e</a:t>
            </a:r>
          </a:p>
          <a:p>
            <a:pPr marL="365760" indent="-182880" algn="l">
              <a:buChar char="•"/>
            </a:pPr>
            <a:r>
              <a:t>pi</a:t>
            </a:r>
          </a:p>
          <a:p>
            <a:pPr marL="365760" indent="-182880" algn="l">
              <a:buChar char="•"/>
            </a:pPr>
            <a:r>
              <a:t>floor()</a:t>
            </a:r>
          </a:p>
          <a:p>
            <a:pPr marL="365760" indent="-182880" algn="l">
              <a:buChar char="•"/>
            </a:pPr>
            <a:r>
              <a:t>ceil()</a:t>
            </a:r>
          </a:p>
          <a:p>
            <a:pPr marL="365760" indent="-182880" algn="l">
              <a:buChar char="•"/>
            </a:pPr>
            <a:r>
              <a:t>sqrt()</a:t>
            </a:r>
          </a:p>
        </p:txBody>
      </p:sp>
    </p:spTree>
    <p:extLst>
      <p:ext uri="{BB962C8B-B14F-4D97-AF65-F5344CB8AC3E}">
        <p14:creationId xmlns:p14="http://schemas.microsoft.com/office/powerpoint/2010/main" val="152988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672F-1554-5B42-A1BE-577CB8CE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變數與賦值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BCB47-3618-3245-9069-CAD60C8C8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變數和賦值是任何程式語言中最基本的概念。變數就像一個容器，我們在其中儲存值。在程式設計中，我們可以使用「=」將資料儲存到變數中。</a:t>
            </a:r>
          </a:p>
          <a:p>
            <a:pPr marL="0" indent="0">
              <a:buNone/>
            </a:pPr>
            <a:r>
              <a:t>注意，Python 的 = 與數學中的 = 概念不同！在 Python 中，等號是「賦值」，意思是你想把等號右邊的資料放到等號左邊；因此，這樣做是常見的：</a:t>
            </a:r>
          </a:p>
          <a:p>
            <a:pPr marL="0" indent="0">
              <a:buNone/>
            </a:pPr>
            <a:r>
              <a:t>x = 5, x = x + 1, print(x)</a:t>
            </a:r>
          </a:p>
          <a:p>
            <a:pPr marL="0" indent="0">
              <a:buNone/>
            </a:pPr>
            <a:r>
              <a:rPr b="1"/>
              <a:t>現在，x 是 6。</a:t>
            </a:r>
          </a:p>
          <a:p>
            <a:pPr marL="0" indent="0">
              <a:buNone/>
            </a:pPr>
            <a:r>
              <a:rPr sz="2000"/>
              <a:t>*. 一種語法糖是把 x = x + 1 改成 x += 1。這在程式設計中極為常見。</a:t>
            </a:r>
          </a:p>
        </p:txBody>
      </p:sp>
    </p:spTree>
    <p:extLst>
      <p:ext uri="{BB962C8B-B14F-4D97-AF65-F5344CB8AC3E}">
        <p14:creationId xmlns:p14="http://schemas.microsoft.com/office/powerpoint/2010/main" val="405383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B91C-34DD-9D4F-B7DD-35946381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字串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A84D-BCBF-9242-B62C-EDD4B4402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5230" cy="4351338"/>
          </a:xfrm>
        </p:spPr>
        <p:txBody>
          <a:bodyPr/>
          <a:lstStyle/>
          <a:p>
            <a:pPr marL="0" indent="0">
              <a:buNone/>
            </a:pPr>
            <a:r>
              <a:t>字串是一個有序的字元序列，例如 "Aloha"。</a:t>
            </a:r>
          </a:p>
          <a:p>
            <a:pPr marL="0" indent="0">
              <a:buNone/>
            </a:pPr>
            <a:r>
              <a:t>需要知道的規則：</a:t>
            </a:r>
          </a:p>
          <a:p>
            <a:pPr marL="0" indent="0">
              <a:buNone/>
            </a:pPr>
            <a:r>
              <a:t>字串是有序的，這意味著我們可以使用索引和切片。索引從 0 開始！！</a:t>
            </a:r>
          </a:p>
          <a:p>
            <a:pPr marL="0" indent="0">
              <a:buNone/>
            </a:pPr>
            <a:r>
              <a:t>在 Python 中，單引號 ' 和雙引號 " 是相同的，它們都可以用來包裹字串中的字串。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14DB880-DC91-0A4E-9AEA-3E3667A00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130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4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B5A6-B61F-384A-909B-71718AB2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字串串接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7345-FD89-AA48-B2E1-BF31B877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在 Python 中，換行字元「\n」用於建立新行。當插入到字串中時，該字元之後的所有字元都會被加到新行。</a:t>
            </a:r>
            <a:endParaRPr lang="en-TW" dirty="0"/>
          </a:p>
          <a:p>
            <a:pPr marL="0" indent="0">
              <a:buNone/>
            </a:pPr>
            <a:r>
              <a:t>在 Python 中，如果我們在字串之間放一個加號運算子，這意味著我們正在串接兩個字串。</a:t>
            </a:r>
          </a:p>
          <a:p>
            <a:pPr marL="0" indent="0">
              <a:buNone/>
            </a:pPr>
            <a:r>
              <a:t>在 Python 中，我們不能對字串和數值進行串接。（這在其他語言中很常見，但請記住，我們在 Python 中不能這樣做）</a:t>
            </a:r>
          </a:p>
          <a:p>
            <a:pPr marL="0" indent="0">
              <a:buNone/>
            </a:pPr>
            <a:r>
              <a:t>字串是不可變的！！</a:t>
            </a:r>
          </a:p>
        </p:txBody>
      </p:sp>
    </p:spTree>
    <p:extLst>
      <p:ext uri="{BB962C8B-B14F-4D97-AF65-F5344CB8AC3E}">
        <p14:creationId xmlns:p14="http://schemas.microsoft.com/office/powerpoint/2010/main" val="362426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DA08-E75E-7341-BE03-634E70A4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內建字串方法 I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7E60-5F60-644D-B30C-DD17EA8E9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t>len()</a:t>
            </a:r>
          </a:p>
          <a:p>
            <a:pPr marL="0" indent="0">
              <a:buNone/>
            </a:pPr>
            <a:r>
              <a:t>int()</a:t>
            </a:r>
          </a:p>
          <a:p>
            <a:pPr marL="0" indent="0">
              <a:buNone/>
            </a:pPr>
            <a:r>
              <a:t>float()</a:t>
            </a:r>
          </a:p>
          <a:p>
            <a:pPr marL="0" indent="0">
              <a:buNone/>
            </a:pPr>
            <a:r>
              <a:t>str()</a:t>
            </a:r>
          </a:p>
          <a:p>
            <a:pPr marL="0" indent="0">
              <a:buNone/>
            </a:pPr>
            <a:r>
              <a:t>upper()</a:t>
            </a:r>
          </a:p>
          <a:p>
            <a:pPr marL="0" indent="0">
              <a:buNone/>
            </a:pPr>
            <a:r>
              <a:t>lower()</a:t>
            </a:r>
          </a:p>
          <a:p>
            <a:pPr marL="0" indent="0">
              <a:buNone/>
            </a:pPr>
            <a:r>
              <a:t>isupper()</a:t>
            </a:r>
          </a:p>
          <a:p>
            <a:pPr marL="0" indent="0">
              <a:buNone/>
            </a:pPr>
            <a:r>
              <a:t>index()</a:t>
            </a:r>
          </a:p>
        </p:txBody>
      </p:sp>
    </p:spTree>
    <p:extLst>
      <p:ext uri="{BB962C8B-B14F-4D97-AF65-F5344CB8AC3E}">
        <p14:creationId xmlns:p14="http://schemas.microsoft.com/office/powerpoint/2010/main" val="358520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D55E-64FF-0649-9D5A-06D16ACC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內建字串方法 II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75573-0C17-004C-822B-48924928D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82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replace()</a:t>
            </a:r>
          </a:p>
          <a:p>
            <a:pPr marL="0" indent="0">
              <a:buNone/>
            </a:pPr>
            <a:r>
              <a:t>split() - 透過空格從字串建立列表</a:t>
            </a:r>
          </a:p>
          <a:p>
            <a:pPr marL="0" indent="0">
              <a:buNone/>
            </a:pPr>
            <a:r>
              <a:t>list() - 逐字元從字串建立列表</a:t>
            </a:r>
          </a:p>
          <a:p>
            <a:pPr marL="0" indent="0">
              <a:buNone/>
            </a:pPr>
            <a:r>
              <a:t>format()</a:t>
            </a:r>
          </a:p>
          <a:p>
            <a:pPr marL="0" indent="0">
              <a:buNone/>
            </a:pPr>
            <a:r>
              <a:t>count()</a:t>
            </a:r>
          </a:p>
          <a:p>
            <a:pPr marL="0" indent="0">
              <a:buNone/>
            </a:pPr>
            <a:r>
              <a:t>find()</a:t>
            </a:r>
          </a:p>
          <a:p>
            <a:pPr marL="0" indent="0">
              <a:buNone/>
            </a:pPr>
            <a:r>
              <a:t>startswith()</a:t>
            </a:r>
          </a:p>
          <a:p>
            <a:pPr marL="0" indent="0">
              <a:buNone/>
            </a:pPr>
            <a:r>
              <a:t>endswith()</a:t>
            </a:r>
          </a:p>
          <a:p>
            <a:pPr marL="0" indent="0">
              <a:buNone/>
            </a:pPr>
            <a:r>
              <a:rPr sz="1800"/>
              <a:t>*. 請記住，Python 內建方法不會修改字串本身。</a:t>
            </a:r>
          </a:p>
        </p:txBody>
      </p:sp>
    </p:spTree>
    <p:extLst>
      <p:ext uri="{BB962C8B-B14F-4D97-AF65-F5344CB8AC3E}">
        <p14:creationId xmlns:p14="http://schemas.microsoft.com/office/powerpoint/2010/main" val="220759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CCB8-1B0D-FC45-8A9F-340970F0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字串的其他規則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D46A-BA06-5C4B-971E-5A252740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不可變性 - Python 中的字串是不可變的，這意味著我們無法更改它。</a:t>
            </a:r>
          </a:p>
          <a:p>
            <a:pPr marL="0" indent="0">
              <a:buNone/>
            </a:pPr>
            <a:r>
              <a:t>字串乘以數字是有效的運算！這與其他程式語言非常不同，但這最終會幫到我們。</a:t>
            </a:r>
          </a:p>
          <a:p>
            <a:pPr marL="0" indent="0">
              <a:buNone/>
            </a:pPr>
            <a:r>
              <a:t>在 Python 中，我們可以使用 format 方法和 f-string。字串串接和 format 方法有什麼區別？它們是相同的，只是格式化主要用於提高可讀性。</a:t>
            </a:r>
          </a:p>
        </p:txBody>
      </p:sp>
    </p:spTree>
    <p:extLst>
      <p:ext uri="{BB962C8B-B14F-4D97-AF65-F5344CB8AC3E}">
        <p14:creationId xmlns:p14="http://schemas.microsoft.com/office/powerpoint/2010/main" val="390818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CCC6-3490-654D-B02F-6772A08B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列表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1745-27E5-AA4C-9747-90EE357C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17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列表是一個有序的資料序列，例如 [12, "Hello", True]。列表就像其他程式語言中的陣列。</a:t>
            </a:r>
          </a:p>
          <a:p>
            <a:pPr marL="0" indent="0">
              <a:buNone/>
            </a:pPr>
            <a:r>
              <a:t>如果我們有相似或相關的資料，我們可以將它們儲存在列表中，而不是單獨放在記憶體中。</a:t>
            </a:r>
          </a:p>
          <a:p>
            <a:pPr marL="0" indent="0">
              <a:buNone/>
            </a:pPr>
            <a:r>
              <a:rPr sz="2000"/>
              <a:t>*. 列表的列表可用於表示矩陣。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10869FB-6A39-864E-B4BC-D9C411E6A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1000" y="1047600"/>
            <a:ext cx="4762800" cy="47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5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950C-E453-D247-B817-C8BC5A13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列表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F42A-F018-CD4C-96F3-67FB68BC7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len() 可以檢查列表的長度。</a:t>
            </a:r>
          </a:p>
          <a:p>
            <a:pPr marL="0" indent="0">
              <a:buNone/>
            </a:pPr>
            <a:r>
              <a:t>字串的索引規則也可用於列表。</a:t>
            </a:r>
          </a:p>
          <a:p>
            <a:pPr marL="0" indent="0">
              <a:buNone/>
            </a:pPr>
            <a:r>
              <a:t>count() 方法可以計算出現次數。index() 方法返回物件的第一個索引。</a:t>
            </a:r>
          </a:p>
          <a:p>
            <a:pPr marL="0" indent="0">
              <a:buNone/>
            </a:pPr>
            <a:r>
              <a:t>set() 將列表轉換為集合。</a:t>
            </a:r>
          </a:p>
          <a:p>
            <a:pPr marL="0" indent="0">
              <a:buNone/>
            </a:pPr>
            <a:r>
              <a:t>列表串接可以使用「+」完成。</a:t>
            </a:r>
          </a:p>
          <a:p>
            <a:pPr marL="0" indent="0">
              <a:buNone/>
            </a:pPr>
            <a:r>
              <a:t>列表也可以乘以整數。</a:t>
            </a:r>
          </a:p>
          <a:p>
            <a:pPr marL="0" indent="0">
              <a:buNone/>
            </a:pPr>
            <a:r>
              <a:t>列表是可變的。（記住，字串是不可變的。）</a:t>
            </a:r>
          </a:p>
        </p:txBody>
      </p:sp>
    </p:spTree>
    <p:extLst>
      <p:ext uri="{BB962C8B-B14F-4D97-AF65-F5344CB8AC3E}">
        <p14:creationId xmlns:p14="http://schemas.microsoft.com/office/powerpoint/2010/main" val="3951596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5B4F-95B5-944C-96EE-B8C51ADB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內建的列表方法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811F-281F-0444-87A4-6E365038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insert()</a:t>
            </a:r>
          </a:p>
          <a:p>
            <a:pPr marL="0" indent="0">
              <a:buNone/>
            </a:pPr>
            <a:r>
              <a:t>remove()</a:t>
            </a:r>
          </a:p>
          <a:p>
            <a:pPr marL="0" indent="0">
              <a:buNone/>
            </a:pPr>
            <a:r>
              <a:t>clear()</a:t>
            </a:r>
          </a:p>
          <a:p>
            <a:pPr marL="0" indent="0">
              <a:buNone/>
            </a:pPr>
            <a:r>
              <a:t>sort()</a:t>
            </a:r>
          </a:p>
          <a:p>
            <a:pPr marL="0" indent="0">
              <a:buNone/>
            </a:pPr>
            <a:r>
              <a:t>reverse()</a:t>
            </a:r>
          </a:p>
          <a:p>
            <a:pPr marL="0" indent="0">
              <a:buNone/>
            </a:pPr>
            <a:r>
              <a:t>append()</a:t>
            </a:r>
          </a:p>
          <a:p>
            <a:pPr marL="0" indent="0">
              <a:buNone/>
            </a:pPr>
            <a:r>
              <a:t>pop()</a:t>
            </a:r>
          </a:p>
          <a:p>
            <a:pPr marL="0" indent="0">
              <a:buNone/>
            </a:pPr>
            <a:r>
              <a:t>copy() - 由於 Python 中的列表不是原始型態，我們需要一種方式來複製列表</a:t>
            </a:r>
          </a:p>
        </p:txBody>
      </p:sp>
    </p:spTree>
    <p:extLst>
      <p:ext uri="{BB962C8B-B14F-4D97-AF65-F5344CB8AC3E}">
        <p14:creationId xmlns:p14="http://schemas.microsoft.com/office/powerpoint/2010/main" val="351473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6C74-2765-1549-A28C-3003DBE6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字典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15E9-BE05-7D42-9CEC-9C8BE9B59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3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字典包含無序的鍵值對，例如 {"name": "Wilson", "age": 25}。它就像其他程式語言中的物件。字典是可變的。</a:t>
            </a:r>
          </a:p>
          <a:p>
            <a:pPr marL="0" indent="0">
              <a:buNone/>
            </a:pPr>
            <a:r>
              <a:t>一些常用的 Python 內建字典方法有：</a:t>
            </a:r>
          </a:p>
          <a:p>
            <a:pPr marL="0" indent="0">
              <a:buNone/>
            </a:pPr>
            <a:r>
              <a:t>keys()</a:t>
            </a:r>
          </a:p>
          <a:p>
            <a:pPr marL="0" indent="0">
              <a:buNone/>
            </a:pPr>
            <a:r>
              <a:t>values()</a:t>
            </a:r>
          </a:p>
          <a:p>
            <a:pPr marL="0" indent="0">
              <a:buNone/>
            </a:pPr>
            <a:r>
              <a:t>items()</a:t>
            </a:r>
          </a:p>
          <a:p>
            <a:pPr marL="0" indent="0">
              <a:buNone/>
            </a:pPr>
            <a:r>
              <a:rPr sz="2000"/>
              <a:t>*. 進階資訊：Python 中的字典是雜湊的，這意味著它們是作為雜湊表實作的，從字典中取出鍵值對的時間複雜度是常數 O(1)，與字典的大小無關。</a:t>
            </a:r>
          </a:p>
        </p:txBody>
      </p:sp>
    </p:spTree>
    <p:extLst>
      <p:ext uri="{BB962C8B-B14F-4D97-AF65-F5344CB8AC3E}">
        <p14:creationId xmlns:p14="http://schemas.microsoft.com/office/powerpoint/2010/main" val="135414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17E5-E050-B649-ADC7-46958ED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（附加章節）什麼可以作為鍵？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B0E0-1175-7740-9894-CF60AA39A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我們可以用什麼作為字典的鍵？限制是：</a:t>
            </a:r>
          </a:p>
          <a:p>
            <a:pPr marL="365760" indent="-182880" algn="l">
              <a:buChar char="•"/>
            </a:pPr>
            <a:r>
              <a:t>鍵必須是不可變的。</a:t>
            </a:r>
          </a:p>
          <a:p>
            <a:pPr marL="365760" indent="-182880" algn="l">
              <a:buChar char="•"/>
            </a:pPr>
            <a:r>
              <a:t>鍵必須是可雜湊的。</a:t>
            </a:r>
          </a:p>
          <a:p>
            <a:pPr marL="0" indent="0">
              <a:buNone/>
            </a:pPr>
            <a:r>
              <a:t>整數、浮點數、布林值、字串、元組是不可變且可雜湊的；因此，它們可以用作字典的鍵。有時使用列表作為字典鍵會非常方便；例如，地圖的經緯度可以是字典中的鍵。Python 使用元組來解決這個問題。（元組是不可變的列表，稍後會討論）</a:t>
            </a:r>
          </a:p>
        </p:txBody>
      </p:sp>
    </p:spTree>
    <p:extLst>
      <p:ext uri="{BB962C8B-B14F-4D97-AF65-F5344CB8AC3E}">
        <p14:creationId xmlns:p14="http://schemas.microsoft.com/office/powerpoint/2010/main" val="2107439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7703-DBA3-5A47-B4E1-4DB9A268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（附加章節）什麼可以作為鍵？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4C409-05A1-904A-BAE6-9B7896A27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542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另一個限制是「鍵必須是可雜湊的」。</a:t>
            </a:r>
          </a:p>
          <a:p>
            <a:pPr marL="0" indent="0">
              <a:buNone/>
            </a:pPr>
            <a:r>
              <a:t>Python 字典實作了一種叫做雜湊表的資料結構；因此，如果鍵不能被雜湊，我們就無法獲得對應的值。（事實上，我們可以實作 __hash__() 方法來為我們自己定義的類別建立雜湊值。）</a:t>
            </a:r>
          </a:p>
          <a:p>
            <a:pPr marL="0" indent="0">
              <a:buNone/>
            </a:pPr>
            <a:r>
              <a:t>因此，使用不可變物件作為鍵是必要的，以確保鍵的雜湊值永遠不會改變。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7793B9A-4DB1-2748-AEAC-2353834C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438" y="2317816"/>
            <a:ext cx="3366956" cy="336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04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8B83-E96E-C342-9368-4451C45B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元組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8F6B-DD12-DA4B-9557-9CA8416E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元組是有序的不可變物件序列，例如 (10, "100", "Hello")。簡而言之，元組就是不可變的列表；此外，元組使用小括號。因此，</a:t>
            </a:r>
          </a:p>
          <a:p>
            <a:pPr marL="0" indent="0">
              <a:buNone/>
            </a:pPr>
            <a:r>
              <a:t>len() 可以檢查元組的長度。</a:t>
            </a:r>
          </a:p>
          <a:p>
            <a:pPr marL="0" indent="0">
              <a:buNone/>
            </a:pPr>
            <a:r>
              <a:t>字串的索引規則也可用於元組。</a:t>
            </a:r>
          </a:p>
          <a:p>
            <a:pPr marL="0" indent="0">
              <a:buNone/>
            </a:pPr>
            <a:r>
              <a:t>count() 方法可以計算出現次數。index() 方法返回物件的第一個索引。</a:t>
            </a:r>
          </a:p>
          <a:p>
            <a:pPr marL="0" indent="0">
              <a:buNone/>
            </a:pPr>
            <a:r>
              <a:t>set() 也可以與元組一起使用。</a:t>
            </a:r>
          </a:p>
          <a:p>
            <a:pPr marL="0" indent="0">
              <a:buNone/>
            </a:pPr>
            <a:r>
              <a:t>由於元組是不可變的，一些列表方法不能用於元組，例如 pop、append、sort 等。</a:t>
            </a:r>
          </a:p>
        </p:txBody>
      </p:sp>
    </p:spTree>
    <p:extLst>
      <p:ext uri="{BB962C8B-B14F-4D97-AF65-F5344CB8AC3E}">
        <p14:creationId xmlns:p14="http://schemas.microsoft.com/office/powerpoint/2010/main" val="1018842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BECA-A229-5446-BDEE-E0F0E4CC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元組打包與解包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1EAE3-67BD-4B45-9097-18825F979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元組是 Python 中非常常見的資料型態，因此 Python 為元組支援兩個功能：</a:t>
            </a:r>
          </a:p>
          <a:p>
            <a:pPr marL="365760" indent="-182880" algn="l">
              <a:buChar char="•"/>
            </a:pPr>
            <a:r>
              <a:t>元組打包</a:t>
            </a:r>
          </a:p>
          <a:p>
            <a:pPr marL="365760" indent="-182880" algn="l">
              <a:buChar char="•"/>
            </a:pPr>
            <a:r>
              <a:t>元組解包</a:t>
            </a:r>
          </a:p>
          <a:p>
            <a:pPr marL="0" indent="0">
              <a:buNone/>
            </a:pPr>
            <a:r>
              <a:t>元組打包意味著 Python 會自動將以逗號分隔的資料打包成元組。元組解包意味著將元組的各個元素（以逗號分隔）分配給多個變數。</a:t>
            </a:r>
          </a:p>
          <a:p>
            <a:pPr marL="0" indent="0">
              <a:buNone/>
            </a:pPr>
            <a:r>
              <a:rPr sz="2000"/>
              <a:t>*. 元組解包是機器學習和資料科學中極其常見的工具。確保你記住這個技巧。</a:t>
            </a:r>
          </a:p>
        </p:txBody>
      </p:sp>
    </p:spTree>
    <p:extLst>
      <p:ext uri="{BB962C8B-B14F-4D97-AF65-F5344CB8AC3E}">
        <p14:creationId xmlns:p14="http://schemas.microsoft.com/office/powerpoint/2010/main" val="418351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49F6-1D07-E749-94F8-189BFA71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集合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E423-BCB1-B749-AC08-151BCBCAD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集合是一個無序的唯一物件集合，例如 {"a", "b", 20}。任何可雜湊的物件都可以是集合中的元素。創建 Python 的人學過離散數學，並將這個概念實作到 Python 中；因此，你在離散數學中學到的集合概念也適用於 Python 集合。例如，{1, 2, 1} 集合與 {1, 2} 是相同的集合。</a:t>
            </a:r>
          </a:p>
          <a:p>
            <a:pPr marL="0" indent="0">
              <a:buNone/>
            </a:pPr>
            <a:r>
              <a:t>一些集合的內建方法有：</a:t>
            </a:r>
          </a:p>
          <a:p>
            <a:pPr marL="0" indent="0">
              <a:buNone/>
            </a:pPr>
            <a:r>
              <a:t>add()</a:t>
            </a:r>
          </a:p>
          <a:p>
            <a:pPr marL="0" indent="0">
              <a:buNone/>
            </a:pPr>
            <a:r>
              <a:t>clear()</a:t>
            </a:r>
          </a:p>
          <a:p>
            <a:pPr marL="0" indent="0">
              <a:buNone/>
            </a:pPr>
            <a:r>
              <a:t>copy()</a:t>
            </a:r>
          </a:p>
          <a:p>
            <a:pPr marL="0" indent="0">
              <a:buNone/>
            </a:pPr>
            <a:r>
              <a:t>discard()</a:t>
            </a:r>
          </a:p>
        </p:txBody>
      </p:sp>
    </p:spTree>
    <p:extLst>
      <p:ext uri="{BB962C8B-B14F-4D97-AF65-F5344CB8AC3E}">
        <p14:creationId xmlns:p14="http://schemas.microsoft.com/office/powerpoint/2010/main" val="3856461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6993-44FE-064E-8C70-DD35FC8E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集合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7DCF-4247-AA48-92E3-E7B504BD5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由於集合的概念來自離散數學，所以有這些方法：</a:t>
            </a:r>
          </a:p>
          <a:p>
            <a:pPr marL="0" indent="0">
              <a:buNone/>
            </a:pPr>
            <a:r>
              <a:t>difference() - 返回兩個或多個集合的差集。</a:t>
            </a:r>
          </a:p>
          <a:p>
            <a:pPr marL="0" indent="0">
              <a:buNone/>
            </a:pPr>
            <a:r>
              <a:t>intersection() - 返回兩個或多個集合的交集作為新集合。（即所有集合共有的元素）</a:t>
            </a:r>
          </a:p>
          <a:p>
            <a:pPr marL="0" indent="0">
              <a:buNone/>
            </a:pPr>
            <a:r>
              <a:t>isdisjoint() - 如果兩個集合的交集為空，此方法將返回 True。</a:t>
            </a:r>
          </a:p>
          <a:p>
            <a:pPr marL="0" indent="0">
              <a:buNone/>
            </a:pPr>
            <a:r>
              <a:t>issubset()、issuperset()</a:t>
            </a:r>
          </a:p>
          <a:p>
            <a:pPr marL="0" indent="0">
              <a:buNone/>
            </a:pPr>
            <a:r>
              <a:t>union()</a:t>
            </a:r>
          </a:p>
        </p:txBody>
      </p:sp>
    </p:spTree>
    <p:extLst>
      <p:ext uri="{BB962C8B-B14F-4D97-AF65-F5344CB8AC3E}">
        <p14:creationId xmlns:p14="http://schemas.microsoft.com/office/powerpoint/2010/main" val="206187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84D0-4677-DD41-836E-C70BC614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布林值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B66E-463B-7B41-B4D7-000FA409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8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在程式設計中，我們經常需要知道某件事是 True 還是 False。例如，假設我們正在為電影院建立一個售票系統。如果顧客的年齡小於 8 歲，則免費；否則，價格是 $300。</a:t>
            </a:r>
          </a:p>
          <a:p>
            <a:pPr marL="0" indent="0">
              <a:buNone/>
            </a:pPr>
            <a:r>
              <a:t>在 Python 中，布林值是一種具有兩個可能值的資料型態：True 或 False。確保它們以大寫字母開頭！！</a:t>
            </a:r>
          </a:p>
          <a:p>
            <a:pPr marL="0" indent="0">
              <a:buNone/>
            </a:pPr>
            <a:r>
              <a:rPr sz="2000"/>
              <a:t>*. 為什麼它們必須以大寫字母開頭？大多數審查者同意，Python 內部的一致性比與其他語言的一致性更重要。因此，Python 中幾乎所有內建常數都是大寫的。這就是原因。詳情請閱讀 https://docs.python.org/3/library/constants.html。</a:t>
            </a:r>
          </a:p>
        </p:txBody>
      </p:sp>
    </p:spTree>
    <p:extLst>
      <p:ext uri="{BB962C8B-B14F-4D97-AF65-F5344CB8AC3E}">
        <p14:creationId xmlns:p14="http://schemas.microsoft.com/office/powerpoint/2010/main" val="1934519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033B-2C97-FB47-9F9F-EFE96229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中的註解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B880-870A-0044-8253-15748B73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825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在程式碼中留下註解總是一個好習慣。原因是：</a:t>
            </a:r>
          </a:p>
          <a:p>
            <a:pPr marL="365760" indent="-182880" algn="l">
              <a:buChar char="•"/>
            </a:pPr>
            <a:r>
              <a:t>它幫助你理解你的程式碼做什麼。（你現在可能很清楚，但幾個月後你可能會忘記。）</a:t>
            </a:r>
          </a:p>
          <a:p>
            <a:pPr marL="365760" indent="-182880" algn="l">
              <a:buChar char="•"/>
            </a:pPr>
            <a:r>
              <a:t>它幫助你的同事理解你的程式碼。程式設計師通常與團隊一起工作，而不是獨自建構東西。</a:t>
            </a:r>
          </a:p>
          <a:p>
            <a:pPr marL="365760" indent="-182880" algn="l">
              <a:buChar char="•"/>
            </a:pPr>
            <a:r>
              <a:t>它幫助網路上的任何人理解你的程式碼。（如果你把它們推送到 GitHub）</a:t>
            </a:r>
          </a:p>
          <a:p>
            <a:pPr marL="0" indent="0">
              <a:buNone/>
            </a:pPr>
            <a:r>
              <a:rPr sz="2000"/>
              <a:t>*. 在 VS Code 中，只需選擇程式碼，然後按 Ctrl + /（或 Mac 上的 command + /）。</a:t>
            </a:r>
          </a:p>
        </p:txBody>
      </p:sp>
    </p:spTree>
    <p:extLst>
      <p:ext uri="{BB962C8B-B14F-4D97-AF65-F5344CB8AC3E}">
        <p14:creationId xmlns:p14="http://schemas.microsoft.com/office/powerpoint/2010/main" val="2060805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EBA1-D7FE-2549-B8F1-550AC6ED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型態檢查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2BE8-72C9-9542-BD4F-CE57D7F3C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2468" cy="4351338"/>
          </a:xfrm>
        </p:spPr>
        <p:txBody>
          <a:bodyPr/>
          <a:lstStyle/>
          <a:p>
            <a:pPr marL="0" indent="0">
              <a:buNone/>
            </a:pPr>
            <a:r>
              <a:t>在 Python 中宣告變數時，我們不必指定型態（在 Java 或 C 中，宣告變數時必須宣告資料型態）；因此，可能很難知道變數的當前資料型態。</a:t>
            </a:r>
          </a:p>
          <a:p>
            <a:pPr marL="0" indent="0">
              <a:buNone/>
            </a:pPr>
            <a:r>
              <a:t>在 Python 中，有一個內建的型態檢查函式叫做 type()，它返回輸入的資料型態。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7095332-5D27-BC40-83CD-76854A96D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0668" y="1157287"/>
            <a:ext cx="45434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27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E1B9-0D2E-A441-9B0A-21760373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附加資訊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05A71-59E8-C147-A68D-2621581E87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91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TW" dirty="0"/>
                  <a:t>Python uses “nj” to represent the imaginary part of a complex number, where n is an arbitrary real integer or float, and j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TW" dirty="0"/>
                  <a:t>. For example, </a:t>
                </a:r>
                <a:r>
                  <a:rPr lang="en-US" dirty="0"/>
                  <a:t>3 + 2j - 5j + 8</a:t>
                </a:r>
                <a:r>
                  <a:rPr lang="en-TW" dirty="0"/>
                  <a:t> = </a:t>
                </a:r>
                <a:r>
                  <a:rPr lang="en-US" dirty="0"/>
                  <a:t>(11-3j)</a:t>
                </a:r>
              </a:p>
              <a:p>
                <a:r>
                  <a:rPr lang="en-US" dirty="0"/>
                  <a:t>Besides the basic data types, there’s one special data type called None. (It’s capitalized) It’s similar to null in other programming languages. None means there’s nothing in there. If a Python method doesn’t return anything, the default return value is None.</a:t>
                </a:r>
              </a:p>
              <a:p>
                <a:r>
                  <a:rPr lang="en-US" dirty="0"/>
                  <a:t>If your method name is hello, make sure you don’t do “print(hello)”; otherwise, you will see something like &lt;function hello at 0x7f93f80ce280&gt; which is the hexadecimal memory address of the function in your memory.</a:t>
                </a:r>
                <a:endParaRPr lang="en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05A71-59E8-C147-A68D-2621581E8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915"/>
              </a:xfrm>
              <a:blipFill>
                <a:blip r:embed="rId3"/>
                <a:stretch>
                  <a:fillRect l="-1086" t="-3134" r="-132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9599672-69BD-3C40-875B-497A61E1E5BA}"/>
              </a:ext>
            </a:extLst>
          </p:cNvPr>
          <p:cNvSpPr txBox="1"/>
          <p:nvPr/>
        </p:nvSpPr>
        <p:spPr>
          <a:xfrm>
            <a:off x="5642975" y="297493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373366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5D4F-6141-C643-A74D-E9B232E4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附加資訊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F565-28CB-704B-AD1F-5220025D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0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0.1 + 0.2 - 0.3 的值是多少？你可能認為是 0，但實際上是 5.551115123125783e-17。這是因為浮點數二進位問題，這超出了本課程的範圍。</a:t>
            </a:r>
          </a:p>
          <a:p>
            <a:pPr marL="0" indent="0">
              <a:buNone/>
            </a:pPr>
            <a:r>
              <a:t>Python 是一種物件導向程式語言，這意味著物件控制一切。現實生活中的物件可以有一些行為，例如汽車可以行駛，狗可以叫，電話可以響。同樣的概念適用於 Python 資料。數值、字串、列表、字典和其他資料型態在 Python 中都是物件。</a:t>
            </a:r>
          </a:p>
          <a:p>
            <a:pPr marL="0" indent="0">
              <a:buNone/>
            </a:pPr>
            <a:r>
              <a:t>Python 字串的 join() 方法將可迭代物件中的所有項目連接成一個字串。此方法有助於從列表、元組和集合生成字串。</a:t>
            </a:r>
          </a:p>
        </p:txBody>
      </p:sp>
    </p:spTree>
    <p:extLst>
      <p:ext uri="{BB962C8B-B14F-4D97-AF65-F5344CB8AC3E}">
        <p14:creationId xmlns:p14="http://schemas.microsoft.com/office/powerpoint/2010/main" val="865260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18E1-FD31-ED46-9B8D-2E3B9B9E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按值複製或按參考複製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9C05-F6C5-6042-A3D5-652EEF19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在 Python 中，分配給變數的值是按值複製或按參考複製的。</a:t>
            </a:r>
          </a:p>
          <a:p>
            <a:pPr marL="0" indent="0">
              <a:buNone/>
            </a:pPr>
            <a:r>
              <a:t>按值複製意味著複製值並獲得一個全新的物件；然後，物件被放入變數中。另一方面，按參考複製意味著我們複製記憶體中物件的參考，參考被放入變數中。</a:t>
            </a:r>
          </a:p>
          <a:p>
            <a:pPr marL="0" indent="0">
              <a:buNone/>
            </a:pPr>
            <a:r>
              <a:t>整數、浮點數、布林值和字串是按值複製的。</a:t>
            </a:r>
          </a:p>
          <a:p>
            <a:pPr marL="0" indent="0">
              <a:buNone/>
            </a:pPr>
            <a:r>
              <a:t>集合、元組、列表和字典是按參考複製的。</a:t>
            </a:r>
          </a:p>
          <a:p>
            <a:pPr marL="0" indent="0">
              <a:buNone/>
            </a:pPr>
            <a:r>
              <a:rPr sz="2000"/>
              <a:t>*. dict、set、list 的 copy() 函式可用於在記憶體中建立新的資料副本。然而，元組是不可變的；因此，我們必須使用 deepcopy() 函式來複製元組。</a:t>
            </a:r>
          </a:p>
        </p:txBody>
      </p:sp>
    </p:spTree>
    <p:extLst>
      <p:ext uri="{BB962C8B-B14F-4D97-AF65-F5344CB8AC3E}">
        <p14:creationId xmlns:p14="http://schemas.microsoft.com/office/powerpoint/2010/main" val="2304795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6D0B-56C8-3847-AC9E-A8BBD8F6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sort 和 sorted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39E6-44C5-114A-8F56-E6423E172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我們如何在 Python 中對不可變資料型態進行排序？我們只知道列表有一個內建方法叫做「sort」，可以對列表進行排序（它會直接修改記憶體中的列表，因為列表是可變的）。</a:t>
            </a:r>
          </a:p>
          <a:p>
            <a:pPr marL="0" indent="0">
              <a:buNone/>
            </a:pPr>
            <a:r>
              <a:t>然而，我們如何對字典、集合、元組甚至字串進行排序？沒有內建方法可以對所有這些資料型態進行排序。傳統上，我們必須手動對所有這些資料型態進行排序（排序演算法在演算法和資料結構課程中教授）。</a:t>
            </a:r>
          </a:p>
          <a:p>
            <a:pPr marL="0" indent="0">
              <a:buNone/>
            </a:pPr>
            <a:r>
              <a:t>Python 引入了一個新的內建方法叫做「sorted()」，它從可迭代物件建立一個新的排序列表，而不修改原始資料。</a:t>
            </a:r>
          </a:p>
          <a:p>
            <a:pPr marL="0" indent="0">
              <a:buNone/>
            </a:pPr>
            <a:r>
              <a:rPr sz="2000"/>
              <a:t>*. 如果你想對列表進行排序而不修改原始列表，請使用 sorted() 方法。</a:t>
            </a:r>
          </a:p>
        </p:txBody>
      </p:sp>
    </p:spTree>
    <p:extLst>
      <p:ext uri="{BB962C8B-B14F-4D97-AF65-F5344CB8AC3E}">
        <p14:creationId xmlns:p14="http://schemas.microsoft.com/office/powerpoint/2010/main" val="3928521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FDAD-87C8-5040-AF2E-C2BCDA52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中的成員運算子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03AEC-8F2E-1B4D-87F3-6DB9DE856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Python 的成員運算子測試序列中的成員資格，例如字串、列表、元組、字典和集合。</a:t>
            </a:r>
            <a:endParaRPr lang="en-US" dirty="0"/>
          </a:p>
          <a:p>
            <a:pPr marL="0" indent="0">
              <a:buNone/>
            </a:pPr>
            <a:r>
              <a:rPr sz="2000"/>
              <a:t>*. 沒有成員運算子，你可能必須使用一些演算法來知道元素是否在序列中，這會更繁瑣。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4C0272-9CE5-D148-AF49-BD7591F81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649562"/>
              </p:ext>
            </p:extLst>
          </p:nvPr>
        </p:nvGraphicFramePr>
        <p:xfrm>
          <a:off x="838200" y="2836563"/>
          <a:ext cx="10422700" cy="1812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459">
                  <a:extLst>
                    <a:ext uri="{9D8B030D-6E8A-4147-A177-3AD203B41FA5}">
                      <a16:colId xmlns:a16="http://schemas.microsoft.com/office/drawing/2014/main" val="790956798"/>
                    </a:ext>
                  </a:extLst>
                </a:gridCol>
                <a:gridCol w="7816241">
                  <a:extLst>
                    <a:ext uri="{9D8B030D-6E8A-4147-A177-3AD203B41FA5}">
                      <a16:colId xmlns:a16="http://schemas.microsoft.com/office/drawing/2014/main" val="3475399553"/>
                    </a:ext>
                  </a:extLst>
                </a:gridCol>
              </a:tblGrid>
              <a:tr h="532550">
                <a:tc>
                  <a:txBody>
                    <a:bodyPr/>
                    <a:lstStyle/>
                    <a:p>
                      <a:r>
                        <a:rPr lang="en-TW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156930"/>
                  </a:ext>
                </a:extLst>
              </a:tr>
              <a:tr h="532550">
                <a:tc>
                  <a:txBody>
                    <a:bodyPr/>
                    <a:lstStyle/>
                    <a:p>
                      <a:r>
                        <a:rPr lang="en-TW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to true if it finds a variable in the specified sequence and false otherwise.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149306"/>
                  </a:ext>
                </a:extLst>
              </a:tr>
              <a:tr h="532550">
                <a:tc>
                  <a:txBody>
                    <a:bodyPr/>
                    <a:lstStyle/>
                    <a:p>
                      <a:r>
                        <a:rPr lang="en-US" dirty="0"/>
                        <a:t>not in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Evaluates to true if it does not find a variable in the specified sequence and false otherwise.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1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5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12719</TotalTime>
  <Words>2853</Words>
  <Application>Microsoft Office PowerPoint</Application>
  <PresentationFormat>寬螢幕</PresentationFormat>
  <Paragraphs>226</Paragraphs>
  <Slides>31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Python Course Chapter 1</vt:lpstr>
      <vt:lpstr>Notes of Chapter 1</vt:lpstr>
      <vt:lpstr>Python Data Type</vt:lpstr>
      <vt:lpstr>Numbers</vt:lpstr>
      <vt:lpstr>Functions in Python</vt:lpstr>
      <vt:lpstr>Built-in Python Methods for Numbers</vt:lpstr>
      <vt:lpstr>Math Module</vt:lpstr>
      <vt:lpstr>Variable and Assignment</vt:lpstr>
      <vt:lpstr>Strings</vt:lpstr>
      <vt:lpstr>String Concatenation</vt:lpstr>
      <vt:lpstr>Python Built-in String Method I</vt:lpstr>
      <vt:lpstr>Python Built-in String Method II</vt:lpstr>
      <vt:lpstr>Other Rules of Strings</vt:lpstr>
      <vt:lpstr>List</vt:lpstr>
      <vt:lpstr>List</vt:lpstr>
      <vt:lpstr>Python Built-in Methods for List</vt:lpstr>
      <vt:lpstr>Dictionaries</vt:lpstr>
      <vt:lpstr>(Bonus Section) What can be a key?</vt:lpstr>
      <vt:lpstr>(Bonus Section) What can be a key?</vt:lpstr>
      <vt:lpstr>Tuples</vt:lpstr>
      <vt:lpstr>Tuple Packing and Unpacking</vt:lpstr>
      <vt:lpstr>Sets</vt:lpstr>
      <vt:lpstr>Sets</vt:lpstr>
      <vt:lpstr>Boolean</vt:lpstr>
      <vt:lpstr>Comments in Python</vt:lpstr>
      <vt:lpstr>Type Checking</vt:lpstr>
      <vt:lpstr>Additional Information</vt:lpstr>
      <vt:lpstr>Additional Information</vt:lpstr>
      <vt:lpstr>Copy by Value or Reference</vt:lpstr>
      <vt:lpstr>Sort and Sorted</vt:lpstr>
      <vt:lpstr>Membership Operator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456</cp:revision>
  <dcterms:created xsi:type="dcterms:W3CDTF">2021-08-25T07:05:14Z</dcterms:created>
  <dcterms:modified xsi:type="dcterms:W3CDTF">2022-03-29T05:06:29Z</dcterms:modified>
</cp:coreProperties>
</file>